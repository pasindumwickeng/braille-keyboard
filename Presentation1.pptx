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7" r:id="rId3"/>
    <p:sldId id="268" r:id="rId4"/>
    <p:sldId id="257" r:id="rId5"/>
    <p:sldId id="269" r:id="rId6"/>
    <p:sldId id="258" r:id="rId7"/>
    <p:sldId id="259" r:id="rId8"/>
    <p:sldId id="270" r:id="rId9"/>
    <p:sldId id="261" r:id="rId10"/>
    <p:sldId id="260" r:id="rId11"/>
    <p:sldId id="273" r:id="rId12"/>
    <p:sldId id="271" r:id="rId13"/>
    <p:sldId id="262" r:id="rId14"/>
    <p:sldId id="272" r:id="rId15"/>
    <p:sldId id="263" r:id="rId16"/>
    <p:sldId id="264" r:id="rId17"/>
    <p:sldId id="265" r:id="rId18"/>
    <p:sldId id="266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18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A7D459-4F71-F9B1-3387-764D1C6EF3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35A2DFA-24CC-0D2F-8D1D-C97D2EB2123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DFF2DA-2C71-41F2-8543-945F7DB6B1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5BAE8-3DC3-4663-B92D-1BC40C355C2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04464-00E3-0643-3BF4-012B8F3E1C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778BFA5-6ADC-E229-BBF9-0D4856C4EF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A308-D2EA-4B94-AA09-ADB1F8CF9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33289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75815A-FC54-80E7-425E-F98CE30611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8E609BB-1CB7-B70C-F918-E52A96D9855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68B7FC-4831-2568-5F2D-9B1AFD203B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5BAE8-3DC3-4663-B92D-1BC40C355C2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BA3E68-7287-1302-F763-DA9A6DD09F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1A002-4505-5BA7-C5E8-3C1124BE1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A308-D2EA-4B94-AA09-ADB1F8CF9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97197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6F5AB-279F-F934-E161-619881D48C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366A61-C6F7-3A86-D4FA-9EF232864A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197FA7C-60DF-AC4C-FD39-158A63E0E1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5BAE8-3DC3-4663-B92D-1BC40C355C2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AC4B71-E4AE-35DD-93C3-25944F6BD4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70B06A7-8098-181D-9364-C1E9D7803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A308-D2EA-4B94-AA09-ADB1F8CF9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9145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50B741-C0FD-F42D-B96B-B13A4879D3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43723-917F-49A4-5464-C433455C054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396F00-9854-1F5B-C2F3-32689C000AE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804AE96-950C-2091-840F-84C59B0ED8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5BAE8-3DC3-4663-B92D-1BC40C355C2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523B5-35DA-46F1-B56D-1DDF201463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619D410-8B8B-036B-F02D-C39201AB33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A308-D2EA-4B94-AA09-ADB1F8CF9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2165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E51C54-CBDD-E14C-26B5-D10F07B5F2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F4FF2A-799F-00B0-71B9-92233C834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1FEDD6-7495-FCD5-4764-7638615EE5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A69BA0B-BE77-A18A-150B-11867C3225B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E0023C-715D-0DC3-8DA6-1F1BCE1FC08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A2CA978-D2BC-34D5-453C-D92B9FB996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5BAE8-3DC3-4663-B92D-1BC40C355C2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A0148B1-162A-C65C-83FB-EF0325486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196C4C-24C6-EF90-78BC-9172D208F3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A308-D2EA-4B94-AA09-ADB1F8CF9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0484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10DF2-E8D4-790C-7450-C3F77DCEC9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372235-AC07-73BD-F00C-597BC4C781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5BAE8-3DC3-4663-B92D-1BC40C355C2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79F275E-4690-1352-6B46-14531ED768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E539E7E-801D-39FC-68FA-C9AA0C3976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A308-D2EA-4B94-AA09-ADB1F8CF9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8939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AF2AC6B-6FC6-54C8-3E0B-4B285DC52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5BAE8-3DC3-4663-B92D-1BC40C355C2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F47E43A-1EC0-C2A0-2826-4D672A23FD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29ED9C5-BDB1-3E08-54F5-01C4947410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A308-D2EA-4B94-AA09-ADB1F8CF9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5575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2610-7BAD-F92D-EA74-407AEFFB5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B07C3E-F60F-3E40-3C80-0AAD24BCB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ED426C9-C43F-A4E5-7A45-DA3820D4787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BE4432A-BEB4-939B-505D-393DA873BE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5BAE8-3DC3-4663-B92D-1BC40C355C2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DA8EEAA-8EA1-20D5-1B33-4DF673590C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5284A4A-256B-531A-6DEA-28638EF323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A308-D2EA-4B94-AA09-ADB1F8CF9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26031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60785-778D-62DA-49B9-5C2710C788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2D15A0F-6EAE-5F16-DE2A-CF5C50CCFCE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31C8BB-FCD1-508D-27B5-5395CDA4F6F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104FBA-1382-8EA4-1B8A-FD4E98A85F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5BAE8-3DC3-4663-B92D-1BC40C355C2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D6C5FDB-6F38-72C3-628C-619FE09D80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A8C80E-D740-DAEC-8EC2-FB1FFD1C14E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A308-D2EA-4B94-AA09-ADB1F8CF9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80099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9FAB7-3CCC-E264-F139-C82708547A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184F75-D3D7-91DB-6BC0-03EA277CA4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D87460-1312-9A99-A8E0-7380EDA4E0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5BAE8-3DC3-4663-B92D-1BC40C355C2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8FF0EF-5992-A9FC-2B0D-7CD3E9A0F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96182E-D1BC-1A44-4766-D1AB89CCD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A308-D2EA-4B94-AA09-ADB1F8CF9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12061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429DCA-FD6F-D98C-4934-EFD1D6CAB91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54654DF-6ADC-4E7D-1A4E-8FDC4634D4F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D3FEF2-B6A5-9E30-0790-E304445CAB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25BAE8-3DC3-4663-B92D-1BC40C355C2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0E9832-6402-B73B-018F-F35523927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1ECABC-A671-B2D4-F4DF-EFF09EAF7D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A7A308-D2EA-4B94-AA09-ADB1F8CF9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176135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4A69EA3-4A09-F544-ACA0-070D970A26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B722C0D-2DB0-9DE8-E87A-600EBE0A31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84C851-0258-4821-C633-ADA1EC79F95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325BAE8-3DC3-4663-B92D-1BC40C355C21}" type="datetimeFigureOut">
              <a:rPr lang="en-US" smtClean="0"/>
              <a:t>12/31/2025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0F5539-CBCF-BB33-E2BC-9F35D7B91C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3A4471-C221-C975-A7EE-3D5C1849B1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A7A308-D2EA-4B94-AA09-ADB1F8CF938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0751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7.jpeg"/><Relationship Id="rId7" Type="http://schemas.openxmlformats.org/officeDocument/2006/relationships/image" Target="../media/image11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jpeg"/><Relationship Id="rId5" Type="http://schemas.openxmlformats.org/officeDocument/2006/relationships/image" Target="../media/image9.jpeg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4.jpe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9.jpeg"/><Relationship Id="rId5" Type="http://schemas.openxmlformats.org/officeDocument/2006/relationships/image" Target="../media/image18.jpeg"/><Relationship Id="rId4" Type="http://schemas.openxmlformats.org/officeDocument/2006/relationships/image" Target="../media/image17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14076246-1EAD-2B01-BE69-DF3367DABC4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ox with a picture of a garmentille master&#10;&#10;AI-generated content may be incorrect.">
            <a:extLst>
              <a:ext uri="{FF2B5EF4-FFF2-40B4-BE49-F238E27FC236}">
                <a16:creationId xmlns:a16="http://schemas.microsoft.com/office/drawing/2014/main" id="{B61CC48B-63E7-8B4B-028E-5DD30F01E0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098" t="60131" r="29298" b="8104"/>
          <a:stretch/>
        </p:blipFill>
        <p:spPr>
          <a:xfrm>
            <a:off x="0" y="519851"/>
            <a:ext cx="12192000" cy="58182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7027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617894DB-5591-6C85-E151-8CDAFCC4D54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D405CA43-7E22-B1BC-F6AB-F8A96F5B411C}"/>
              </a:ext>
            </a:extLst>
          </p:cNvPr>
          <p:cNvGrpSpPr/>
          <p:nvPr/>
        </p:nvGrpSpPr>
        <p:grpSpPr>
          <a:xfrm>
            <a:off x="3373120" y="2301479"/>
            <a:ext cx="6004560" cy="2255041"/>
            <a:chOff x="3342640" y="2624714"/>
            <a:chExt cx="6004560" cy="2255041"/>
          </a:xfrm>
        </p:grpSpPr>
        <p:sp>
          <p:nvSpPr>
            <p:cNvPr id="5" name="TextBox 4">
              <a:extLst>
                <a:ext uri="{FF2B5EF4-FFF2-40B4-BE49-F238E27FC236}">
                  <a16:creationId xmlns:a16="http://schemas.microsoft.com/office/drawing/2014/main" id="{BF576C75-0FEA-9DFA-AF2D-0983CA1F2375}"/>
                </a:ext>
              </a:extLst>
            </p:cNvPr>
            <p:cNvSpPr txBox="1"/>
            <p:nvPr/>
          </p:nvSpPr>
          <p:spPr>
            <a:xfrm>
              <a:off x="6689187" y="2624714"/>
              <a:ext cx="2658013" cy="2255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</a:rPr>
                <a:t>E/20/097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</a:rPr>
                <a:t>E/20/111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</a:rPr>
                <a:t>E/20/269</a:t>
              </a:r>
            </a:p>
            <a:p>
              <a:pPr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</a:rPr>
                <a:t>E/20/436</a:t>
              </a: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C1041F1-869F-814F-883D-543D3B0EA691}"/>
                </a:ext>
              </a:extLst>
            </p:cNvPr>
            <p:cNvSpPr txBox="1"/>
            <p:nvPr/>
          </p:nvSpPr>
          <p:spPr>
            <a:xfrm>
              <a:off x="3342640" y="2624714"/>
              <a:ext cx="3180080" cy="22550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</a:rPr>
                <a:t>Ekanayake E.M.M.	</a:t>
              </a:r>
            </a:p>
            <a:p>
              <a:pPr algn="l"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</a:rPr>
                <a:t>Gamage N.N.J.	   </a:t>
              </a:r>
            </a:p>
            <a:p>
              <a:pPr algn="l">
                <a:lnSpc>
                  <a:spcPct val="150000"/>
                </a:lnSpc>
              </a:pPr>
              <a:r>
                <a:rPr lang="en-US" sz="2400" dirty="0" err="1">
                  <a:solidFill>
                    <a:schemeClr val="bg1"/>
                  </a:solidFill>
                </a:rPr>
                <a:t>Nipun</a:t>
              </a:r>
              <a:r>
                <a:rPr lang="en-US" sz="2400" dirty="0">
                  <a:solidFill>
                    <a:schemeClr val="bg1"/>
                  </a:solidFill>
                </a:rPr>
                <a:t> P.G.D.	</a:t>
              </a:r>
            </a:p>
            <a:p>
              <a:pPr algn="l">
                <a:lnSpc>
                  <a:spcPct val="150000"/>
                </a:lnSpc>
              </a:pPr>
              <a:r>
                <a:rPr lang="en-US" sz="2400" dirty="0">
                  <a:solidFill>
                    <a:schemeClr val="bg1"/>
                  </a:solidFill>
                </a:rPr>
                <a:t>Wickramanayake P.M.</a:t>
              </a:r>
            </a:p>
          </p:txBody>
        </p:sp>
      </p:grpSp>
      <p:sp>
        <p:nvSpPr>
          <p:cNvPr id="8" name="Title 1">
            <a:extLst>
              <a:ext uri="{FF2B5EF4-FFF2-40B4-BE49-F238E27FC236}">
                <a16:creationId xmlns:a16="http://schemas.microsoft.com/office/drawing/2014/main" id="{C814C299-1ECB-7E7D-458F-294C571641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975916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</a:rPr>
              <a:t>Group 09</a:t>
            </a:r>
          </a:p>
        </p:txBody>
      </p:sp>
    </p:spTree>
    <p:extLst>
      <p:ext uri="{BB962C8B-B14F-4D97-AF65-F5344CB8AC3E}">
        <p14:creationId xmlns:p14="http://schemas.microsoft.com/office/powerpoint/2010/main" val="1390411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003BC2A0-4C2E-AAF3-5E3B-4FFCEA33A21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950F5E-4475-CA0F-466F-8CC5A6A0E9A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79290" y="1277144"/>
            <a:ext cx="3233420" cy="5154136"/>
          </a:xfrm>
        </p:spPr>
        <p:txBody>
          <a:bodyPr>
            <a:noAutofit/>
          </a:bodyPr>
          <a:lstStyle/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Introduction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Problem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Solution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Design and Layout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Features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Use Cases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The Future</a:t>
            </a:r>
          </a:p>
          <a:p>
            <a:pPr marL="514350" indent="-514350">
              <a:lnSpc>
                <a:spcPct val="150000"/>
              </a:lnSpc>
              <a:buFont typeface="+mj-lt"/>
              <a:buAutoNum type="arabicPeriod"/>
            </a:pPr>
            <a:r>
              <a:rPr lang="en-US" sz="2400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09DAAD-3A78-60D2-6DC8-09921C2C7D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23460" y="251618"/>
            <a:ext cx="2545080" cy="1325563"/>
          </a:xfrm>
        </p:spPr>
        <p:txBody>
          <a:bodyPr>
            <a:normAutofit/>
          </a:bodyPr>
          <a:lstStyle/>
          <a:p>
            <a:pPr algn="ctr"/>
            <a:r>
              <a:rPr lang="en-US" sz="5400" dirty="0">
                <a:solidFill>
                  <a:srgbClr val="FFFF00"/>
                </a:solidFill>
              </a:rPr>
              <a:t>Content</a:t>
            </a:r>
          </a:p>
        </p:txBody>
      </p:sp>
    </p:spTree>
    <p:extLst>
      <p:ext uri="{BB962C8B-B14F-4D97-AF65-F5344CB8AC3E}">
        <p14:creationId xmlns:p14="http://schemas.microsoft.com/office/powerpoint/2010/main" val="1516003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8B0477CB-76FF-4D9C-C3DA-78D359DDD71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DA85FC-106E-3EA2-AE55-FA0BF45BE0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63632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FFFF00"/>
                </a:solidFill>
              </a:rPr>
              <a:t>Introduction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3E27563-6D57-48EB-6CFA-74576DBFC8DD}"/>
              </a:ext>
            </a:extLst>
          </p:cNvPr>
          <p:cNvSpPr txBox="1"/>
          <p:nvPr/>
        </p:nvSpPr>
        <p:spPr>
          <a:xfrm>
            <a:off x="838200" y="1581528"/>
            <a:ext cx="515112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According to WHO and IAPB</a:t>
            </a:r>
            <a:r>
              <a:rPr lang="en-US" sz="2400" dirty="0">
                <a:solidFill>
                  <a:schemeClr val="bg1"/>
                </a:solidFill>
              </a:rPr>
              <a:t>: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C6EE5AE-E6E5-DCD9-B49A-D26EDA8CFCD2}"/>
              </a:ext>
            </a:extLst>
          </p:cNvPr>
          <p:cNvSpPr txBox="1"/>
          <p:nvPr/>
        </p:nvSpPr>
        <p:spPr>
          <a:xfrm>
            <a:off x="906780" y="2523472"/>
            <a:ext cx="435864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b="1" dirty="0">
                <a:solidFill>
                  <a:schemeClr val="bg1"/>
                </a:solidFill>
                <a:latin typeface="Agency FB" panose="020B0503020202020204" pitchFamily="34" charset="0"/>
              </a:rPr>
              <a:t>2.2 Billion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A8EEC7-864E-0754-C1B3-9D6BFAB348C9}"/>
              </a:ext>
            </a:extLst>
          </p:cNvPr>
          <p:cNvSpPr txBox="1"/>
          <p:nvPr/>
        </p:nvSpPr>
        <p:spPr>
          <a:xfrm>
            <a:off x="982979" y="4093132"/>
            <a:ext cx="411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</a:rPr>
              <a:t>People have a near or distance vision impairment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12F55E8-FFD6-E6D1-183B-0B21372F3583}"/>
              </a:ext>
            </a:extLst>
          </p:cNvPr>
          <p:cNvSpPr txBox="1"/>
          <p:nvPr/>
        </p:nvSpPr>
        <p:spPr>
          <a:xfrm>
            <a:off x="7010399" y="657751"/>
            <a:ext cx="4358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  <a:latin typeface="Agency FB" panose="020B0503020202020204" pitchFamily="34" charset="0"/>
              </a:rPr>
              <a:t>43 Million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FB47A70-83C0-EA69-93AC-F5FB803585E6}"/>
              </a:ext>
            </a:extLst>
          </p:cNvPr>
          <p:cNvSpPr txBox="1"/>
          <p:nvPr/>
        </p:nvSpPr>
        <p:spPr>
          <a:xfrm>
            <a:off x="6972299" y="1811913"/>
            <a:ext cx="411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</a:rPr>
              <a:t>Completely blind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BDE8FE9-639C-F45A-704F-E0BA652AB75B}"/>
              </a:ext>
            </a:extLst>
          </p:cNvPr>
          <p:cNvSpPr txBox="1"/>
          <p:nvPr/>
        </p:nvSpPr>
        <p:spPr>
          <a:xfrm>
            <a:off x="6972299" y="2418824"/>
            <a:ext cx="4358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  <a:latin typeface="Agency FB" panose="020B0503020202020204" pitchFamily="34" charset="0"/>
              </a:rPr>
              <a:t>295 Million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D59841E-8BAC-9CC2-9500-1F4F3183D16F}"/>
              </a:ext>
            </a:extLst>
          </p:cNvPr>
          <p:cNvSpPr txBox="1"/>
          <p:nvPr/>
        </p:nvSpPr>
        <p:spPr>
          <a:xfrm>
            <a:off x="6972299" y="3564223"/>
            <a:ext cx="411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</a:rPr>
              <a:t>Moderate to severe vision impairment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C68FB05-9302-1C8A-5FA5-30B3888E2B3F}"/>
              </a:ext>
            </a:extLst>
          </p:cNvPr>
          <p:cNvSpPr txBox="1"/>
          <p:nvPr/>
        </p:nvSpPr>
        <p:spPr>
          <a:xfrm>
            <a:off x="7040881" y="4652305"/>
            <a:ext cx="43586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7200" b="1" dirty="0">
                <a:solidFill>
                  <a:schemeClr val="bg1"/>
                </a:solidFill>
                <a:latin typeface="Agency FB" panose="020B0503020202020204" pitchFamily="34" charset="0"/>
              </a:rPr>
              <a:t>258 Million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B0D5541-46EA-A836-5877-BCE71238EDAC}"/>
              </a:ext>
            </a:extLst>
          </p:cNvPr>
          <p:cNvSpPr txBox="1"/>
          <p:nvPr/>
        </p:nvSpPr>
        <p:spPr>
          <a:xfrm>
            <a:off x="7010399" y="5767047"/>
            <a:ext cx="411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</a:rPr>
              <a:t>Mild vision impairment</a:t>
            </a:r>
          </a:p>
        </p:txBody>
      </p:sp>
    </p:spTree>
    <p:extLst>
      <p:ext uri="{BB962C8B-B14F-4D97-AF65-F5344CB8AC3E}">
        <p14:creationId xmlns:p14="http://schemas.microsoft.com/office/powerpoint/2010/main" val="2390679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5133097-7D12-5B2F-736C-56DA93F70A4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EF343D-2EB0-C208-1C1C-6A2953DD16DA}"/>
              </a:ext>
            </a:extLst>
          </p:cNvPr>
          <p:cNvSpPr txBox="1"/>
          <p:nvPr/>
        </p:nvSpPr>
        <p:spPr>
          <a:xfrm>
            <a:off x="876300" y="1443841"/>
            <a:ext cx="10439400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/>
                </a:solidFill>
              </a:rPr>
              <a:t>The leading causes of visual impairment are age related (cataracts, muscle degeneration, etc.)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As the global population ages, the number of visually impaired people is projected to </a:t>
            </a:r>
            <a:r>
              <a:rPr lang="en-US" sz="4000" b="1" dirty="0">
                <a:solidFill>
                  <a:schemeClr val="bg1"/>
                </a:solidFill>
              </a:rPr>
              <a:t>triple</a:t>
            </a:r>
            <a:r>
              <a:rPr lang="en-US" sz="2800" b="1" dirty="0">
                <a:solidFill>
                  <a:schemeClr val="bg1"/>
                </a:solidFill>
              </a:rPr>
              <a:t> </a:t>
            </a:r>
            <a:r>
              <a:rPr lang="en-US" sz="2800" dirty="0">
                <a:solidFill>
                  <a:schemeClr val="bg1"/>
                </a:solidFill>
              </a:rPr>
              <a:t>by 2050.</a:t>
            </a:r>
          </a:p>
          <a:p>
            <a:endParaRPr lang="en-US" sz="2800" dirty="0">
              <a:solidFill>
                <a:schemeClr val="bg1"/>
              </a:solidFill>
            </a:endParaRPr>
          </a:p>
          <a:p>
            <a:r>
              <a:rPr lang="en-US" sz="2800" dirty="0">
                <a:solidFill>
                  <a:schemeClr val="bg1"/>
                </a:solidFill>
              </a:rPr>
              <a:t>In the UK alone, </a:t>
            </a:r>
            <a:r>
              <a:rPr lang="en-US" sz="4400" b="1" dirty="0">
                <a:solidFill>
                  <a:schemeClr val="bg1"/>
                </a:solidFill>
              </a:rPr>
              <a:t>23%</a:t>
            </a:r>
            <a:r>
              <a:rPr lang="en-US" sz="2800" b="1" dirty="0">
                <a:solidFill>
                  <a:schemeClr val="bg1"/>
                </a:solidFill>
              </a:rPr>
              <a:t> of visually impaired people</a:t>
            </a:r>
            <a:r>
              <a:rPr lang="en-US" sz="2800" dirty="0">
                <a:solidFill>
                  <a:schemeClr val="bg1"/>
                </a:solidFill>
              </a:rPr>
              <a:t> say they never use the internet because of accessibility barriers. </a:t>
            </a:r>
          </a:p>
        </p:txBody>
      </p:sp>
    </p:spTree>
    <p:extLst>
      <p:ext uri="{BB962C8B-B14F-4D97-AF65-F5344CB8AC3E}">
        <p14:creationId xmlns:p14="http://schemas.microsoft.com/office/powerpoint/2010/main" val="200883464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BFADC56-F373-60E6-38EE-DE83209420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74" name="Picture 2" descr="Update Your Web Accessibility for People with Visual Disabilities">
            <a:extLst>
              <a:ext uri="{FF2B5EF4-FFF2-40B4-BE49-F238E27FC236}">
                <a16:creationId xmlns:a16="http://schemas.microsoft.com/office/drawing/2014/main" id="{9FA9E0D0-DFCE-F7A3-B842-83017D6FC9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3120" y="1144088"/>
            <a:ext cx="8084072" cy="50738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29BBEAC-AFA1-9C4D-506E-34F2C05B5B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39827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FFFF00"/>
                </a:solidFill>
              </a:rPr>
              <a:t>Problem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36182C7-5CE1-991C-989E-5AA00D69ECE3}"/>
              </a:ext>
            </a:extLst>
          </p:cNvPr>
          <p:cNvSpPr txBox="1"/>
          <p:nvPr/>
        </p:nvSpPr>
        <p:spPr>
          <a:xfrm>
            <a:off x="635000" y="1418846"/>
            <a:ext cx="6598920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</a:rPr>
              <a:t>Standard interfaces create a digital barrier, effectively locking visually impaired individuals out of the modern world.</a:t>
            </a:r>
          </a:p>
          <a:p>
            <a:pPr algn="just"/>
            <a:endParaRPr lang="en-US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Standard QWERT keyboards are hard to navigate and lack feedback. </a:t>
            </a:r>
          </a:p>
          <a:p>
            <a:pPr algn="just"/>
            <a:endParaRPr lang="en-US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Touchscreens are even harder to navigate with the limited senses. </a:t>
            </a:r>
          </a:p>
          <a:p>
            <a:pPr algn="just"/>
            <a:endParaRPr lang="en-US" sz="2400" dirty="0">
              <a:solidFill>
                <a:schemeClr val="bg1"/>
              </a:solidFill>
            </a:endParaRPr>
          </a:p>
          <a:p>
            <a:pPr algn="just"/>
            <a:r>
              <a:rPr lang="en-US" sz="2400" dirty="0">
                <a:solidFill>
                  <a:schemeClr val="bg1"/>
                </a:solidFill>
              </a:rPr>
              <a:t>While some accessible products have their own unique challenges.</a:t>
            </a:r>
          </a:p>
        </p:txBody>
      </p:sp>
    </p:spTree>
    <p:extLst>
      <p:ext uri="{BB962C8B-B14F-4D97-AF65-F5344CB8AC3E}">
        <p14:creationId xmlns:p14="http://schemas.microsoft.com/office/powerpoint/2010/main" val="31518765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8F6A9EE-092F-EC2B-1C3C-31EAE7BDB8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 descr="A black and white device with white buttons&#10;&#10;AI-generated content may be incorrect.">
            <a:extLst>
              <a:ext uri="{FF2B5EF4-FFF2-40B4-BE49-F238E27FC236}">
                <a16:creationId xmlns:a16="http://schemas.microsoft.com/office/drawing/2014/main" id="{6D069A9E-A25B-D902-758F-6B167E9C90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4276" y="560449"/>
            <a:ext cx="3496163" cy="541095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pic>
        <p:nvPicPr>
          <p:cNvPr id="8" name="Picture 7" descr="A black and white device with white buttons&#10;&#10;AI-generated content may be incorrect.">
            <a:extLst>
              <a:ext uri="{FF2B5EF4-FFF2-40B4-BE49-F238E27FC236}">
                <a16:creationId xmlns:a16="http://schemas.microsoft.com/office/drawing/2014/main" id="{08FB6B00-FFBE-6F62-C95D-9F9BE878A0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7937"/>
          <a:stretch/>
        </p:blipFill>
        <p:spPr>
          <a:xfrm>
            <a:off x="1054277" y="560449"/>
            <a:ext cx="3496163" cy="3899278"/>
          </a:xfrm>
          <a:prstGeom prst="roundRect">
            <a:avLst>
              <a:gd name="adj" fmla="val 16667"/>
            </a:avLst>
          </a:prstGeom>
          <a:ln>
            <a:noFill/>
          </a:ln>
          <a:effectLst/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C20556C-AC43-B902-F51F-04537CCFCF3A}"/>
              </a:ext>
            </a:extLst>
          </p:cNvPr>
          <p:cNvSpPr txBox="1"/>
          <p:nvPr/>
        </p:nvSpPr>
        <p:spPr>
          <a:xfrm>
            <a:off x="1767840" y="4785360"/>
            <a:ext cx="1717040" cy="50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A764333-EB78-01DA-FB6E-75B04AEB8B54}"/>
              </a:ext>
            </a:extLst>
          </p:cNvPr>
          <p:cNvGrpSpPr/>
          <p:nvPr/>
        </p:nvGrpSpPr>
        <p:grpSpPr>
          <a:xfrm>
            <a:off x="2165454" y="5000351"/>
            <a:ext cx="149225" cy="92075"/>
            <a:chOff x="2326640" y="4907280"/>
            <a:chExt cx="375920" cy="223520"/>
          </a:xfrm>
        </p:grpSpPr>
        <p:sp>
          <p:nvSpPr>
            <p:cNvPr id="11" name="Wave 10">
              <a:extLst>
                <a:ext uri="{FF2B5EF4-FFF2-40B4-BE49-F238E27FC236}">
                  <a16:creationId xmlns:a16="http://schemas.microsoft.com/office/drawing/2014/main" id="{7E7C7A7B-DFF8-7ECC-1A0A-66070C65147D}"/>
                </a:ext>
              </a:extLst>
            </p:cNvPr>
            <p:cNvSpPr/>
            <p:nvPr/>
          </p:nvSpPr>
          <p:spPr>
            <a:xfrm>
              <a:off x="2326640" y="4907280"/>
              <a:ext cx="375920" cy="91440"/>
            </a:xfrm>
            <a:prstGeom prst="wave">
              <a:avLst/>
            </a:prstGeom>
            <a:ln w="635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2" name="Wave 11">
              <a:extLst>
                <a:ext uri="{FF2B5EF4-FFF2-40B4-BE49-F238E27FC236}">
                  <a16:creationId xmlns:a16="http://schemas.microsoft.com/office/drawing/2014/main" id="{08B4592D-6AD7-7619-AB50-72278DA26DD4}"/>
                </a:ext>
              </a:extLst>
            </p:cNvPr>
            <p:cNvSpPr>
              <a:spLocks/>
            </p:cNvSpPr>
            <p:nvPr/>
          </p:nvSpPr>
          <p:spPr>
            <a:xfrm>
              <a:off x="2326640" y="5039360"/>
              <a:ext cx="375920" cy="91440"/>
            </a:xfrm>
            <a:prstGeom prst="wave">
              <a:avLst/>
            </a:prstGeom>
            <a:ln w="635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BBEE0232-770D-27BD-0153-15B57B9F8053}"/>
              </a:ext>
            </a:extLst>
          </p:cNvPr>
          <p:cNvSpPr txBox="1"/>
          <p:nvPr/>
        </p:nvSpPr>
        <p:spPr>
          <a:xfrm>
            <a:off x="2355319" y="4858130"/>
            <a:ext cx="1717040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87 000 LKR</a:t>
            </a:r>
          </a:p>
        </p:txBody>
      </p:sp>
      <p:pic>
        <p:nvPicPr>
          <p:cNvPr id="4100" name="Picture 4" descr="Logickeyboard braille keyboard for PC">
            <a:extLst>
              <a:ext uri="{FF2B5EF4-FFF2-40B4-BE49-F238E27FC236}">
                <a16:creationId xmlns:a16="http://schemas.microsoft.com/office/drawing/2014/main" id="{07FC5039-1544-F27A-24F8-5F392C0D796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418" b="30222"/>
          <a:stretch/>
        </p:blipFill>
        <p:spPr bwMode="auto">
          <a:xfrm>
            <a:off x="4942219" y="560449"/>
            <a:ext cx="6858000" cy="249357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6" descr="A screenshot of a product&#10;&#10;AI-generated content may be incorrect.">
            <a:extLst>
              <a:ext uri="{FF2B5EF4-FFF2-40B4-BE49-F238E27FC236}">
                <a16:creationId xmlns:a16="http://schemas.microsoft.com/office/drawing/2014/main" id="{A1D2730B-4B98-EF64-6D16-200E34361C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42219" y="3734587"/>
            <a:ext cx="6858000" cy="210154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59ED61EE-75F9-B570-12D5-D2CA5081AD49}"/>
              </a:ext>
            </a:extLst>
          </p:cNvPr>
          <p:cNvSpPr txBox="1"/>
          <p:nvPr/>
        </p:nvSpPr>
        <p:spPr>
          <a:xfrm>
            <a:off x="6920503" y="4859652"/>
            <a:ext cx="1717040" cy="50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73507E4-31DD-ED24-2835-8C4440582CB6}"/>
              </a:ext>
            </a:extLst>
          </p:cNvPr>
          <p:cNvSpPr txBox="1"/>
          <p:nvPr/>
        </p:nvSpPr>
        <p:spPr>
          <a:xfrm>
            <a:off x="9029322" y="4812092"/>
            <a:ext cx="1717040" cy="3765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154 000 LKR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AE89D0D-BA73-646D-1032-31223FDA1DD2}"/>
              </a:ext>
            </a:extLst>
          </p:cNvPr>
          <p:cNvGrpSpPr/>
          <p:nvPr/>
        </p:nvGrpSpPr>
        <p:grpSpPr>
          <a:xfrm>
            <a:off x="8880097" y="4954313"/>
            <a:ext cx="149225" cy="92075"/>
            <a:chOff x="2326640" y="4907280"/>
            <a:chExt cx="375920" cy="223520"/>
          </a:xfrm>
        </p:grpSpPr>
        <p:sp>
          <p:nvSpPr>
            <p:cNvPr id="22" name="Wave 21">
              <a:extLst>
                <a:ext uri="{FF2B5EF4-FFF2-40B4-BE49-F238E27FC236}">
                  <a16:creationId xmlns:a16="http://schemas.microsoft.com/office/drawing/2014/main" id="{8A9E7FEB-AFA5-DE75-3959-A61C9C6510D5}"/>
                </a:ext>
              </a:extLst>
            </p:cNvPr>
            <p:cNvSpPr/>
            <p:nvPr/>
          </p:nvSpPr>
          <p:spPr>
            <a:xfrm>
              <a:off x="2326640" y="4907280"/>
              <a:ext cx="375920" cy="91440"/>
            </a:xfrm>
            <a:prstGeom prst="wave">
              <a:avLst/>
            </a:prstGeom>
            <a:ln w="635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3" name="Wave 22">
              <a:extLst>
                <a:ext uri="{FF2B5EF4-FFF2-40B4-BE49-F238E27FC236}">
                  <a16:creationId xmlns:a16="http://schemas.microsoft.com/office/drawing/2014/main" id="{777CB333-4AE4-0230-E9CD-C369BE5D46B4}"/>
                </a:ext>
              </a:extLst>
            </p:cNvPr>
            <p:cNvSpPr>
              <a:spLocks/>
            </p:cNvSpPr>
            <p:nvPr/>
          </p:nvSpPr>
          <p:spPr>
            <a:xfrm>
              <a:off x="2326640" y="5039360"/>
              <a:ext cx="375920" cy="91440"/>
            </a:xfrm>
            <a:prstGeom prst="wave">
              <a:avLst/>
            </a:prstGeom>
            <a:ln w="6350"/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1933875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A8F6A9EE-092F-EC2B-1C3C-31EAE7BDB84B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C20556C-AC43-B902-F51F-04537CCFCF3A}"/>
              </a:ext>
            </a:extLst>
          </p:cNvPr>
          <p:cNvSpPr txBox="1"/>
          <p:nvPr/>
        </p:nvSpPr>
        <p:spPr>
          <a:xfrm>
            <a:off x="1767840" y="4785360"/>
            <a:ext cx="1717040" cy="508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5C7CFF2-D285-155C-BF6D-057DA1A2EF59}"/>
              </a:ext>
            </a:extLst>
          </p:cNvPr>
          <p:cNvSpPr txBox="1"/>
          <p:nvPr/>
        </p:nvSpPr>
        <p:spPr>
          <a:xfrm>
            <a:off x="785882" y="410609"/>
            <a:ext cx="940025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</a:rPr>
              <a:t>Gathered from user reviews, Reddit and Quora conversations,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DC3676-A760-DBF6-79E6-E5049CE51031}"/>
              </a:ext>
            </a:extLst>
          </p:cNvPr>
          <p:cNvSpPr txBox="1"/>
          <p:nvPr/>
        </p:nvSpPr>
        <p:spPr>
          <a:xfrm>
            <a:off x="788647" y="926597"/>
            <a:ext cx="86701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</a:rPr>
              <a:t>Existing keyboards for visually impaired individuals are,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CAA2E9C-006D-248F-530C-3CC5946C74FE}"/>
              </a:ext>
            </a:extLst>
          </p:cNvPr>
          <p:cNvSpPr txBox="1"/>
          <p:nvPr/>
        </p:nvSpPr>
        <p:spPr>
          <a:xfrm>
            <a:off x="666717" y="1934752"/>
            <a:ext cx="3641399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Expensive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Too Heavy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Too Slow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Uncomfortable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Unnecessarily complex</a:t>
            </a:r>
          </a:p>
        </p:txBody>
      </p:sp>
      <p:pic>
        <p:nvPicPr>
          <p:cNvPr id="5122" name="Picture 2" descr="New Technology: The Hable One External Braille Keyboard -  victastudents.org.uk">
            <a:extLst>
              <a:ext uri="{FF2B5EF4-FFF2-40B4-BE49-F238E27FC236}">
                <a16:creationId xmlns:a16="http://schemas.microsoft.com/office/drawing/2014/main" id="{6D91E4D1-EB9B-B058-17C8-DBFEF9A294F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29617" y="5021730"/>
            <a:ext cx="2019124" cy="1514343"/>
          </a:xfrm>
          <a:prstGeom prst="roundRect">
            <a:avLst>
              <a:gd name="adj" fmla="val 16667"/>
            </a:avLst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28" name="Picture 8" descr="4 Most Expensive Mistakes Property Managers Make - @Assist Blog">
            <a:extLst>
              <a:ext uri="{FF2B5EF4-FFF2-40B4-BE49-F238E27FC236}">
                <a16:creationId xmlns:a16="http://schemas.microsoft.com/office/drawing/2014/main" id="{336A1389-68F0-F3DD-6006-F7A76E6B828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00980" y="1688462"/>
            <a:ext cx="1891715" cy="133681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0" name="Picture 10" descr="Cartoon Heavy Weight Symbol Stock Vector (Royalty Free) 121146274 |  Shutterstock">
            <a:extLst>
              <a:ext uri="{FF2B5EF4-FFF2-40B4-BE49-F238E27FC236}">
                <a16:creationId xmlns:a16="http://schemas.microsoft.com/office/drawing/2014/main" id="{E98E5E1E-0E24-DC9B-F03C-EB7EB39FA25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969" b="9747"/>
          <a:stretch/>
        </p:blipFill>
        <p:spPr bwMode="auto">
          <a:xfrm>
            <a:off x="9198122" y="2671773"/>
            <a:ext cx="1976023" cy="170847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2" name="Picture 12" descr="8,683 Drive Slow Stock Vectors and Vector Art | Shutterstock">
            <a:extLst>
              <a:ext uri="{FF2B5EF4-FFF2-40B4-BE49-F238E27FC236}">
                <a16:creationId xmlns:a16="http://schemas.microsoft.com/office/drawing/2014/main" id="{F0A92631-1F40-D56D-3C89-C043436CB04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91" t="22666" r="11251" b="16020"/>
          <a:stretch/>
        </p:blipFill>
        <p:spPr bwMode="auto">
          <a:xfrm>
            <a:off x="8406409" y="5058408"/>
            <a:ext cx="1852978" cy="1477665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134" name="Picture 14" descr="Complexity Word On Red Keyboard Button Stock Photo 515412514 | Shutterstock">
            <a:extLst>
              <a:ext uri="{FF2B5EF4-FFF2-40B4-BE49-F238E27FC236}">
                <a16:creationId xmlns:a16="http://schemas.microsoft.com/office/drawing/2014/main" id="{CA6053F4-56DC-D4E6-4A2B-0C6208786A5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010"/>
          <a:stretch/>
        </p:blipFill>
        <p:spPr bwMode="auto">
          <a:xfrm>
            <a:off x="4076429" y="2928310"/>
            <a:ext cx="2019124" cy="1333500"/>
          </a:xfrm>
          <a:prstGeom prst="roundRect">
            <a:avLst>
              <a:gd name="adj" fmla="val 16667"/>
            </a:avLst>
          </a:prstGeom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black arrow pointing up&#10;&#10;AI-generated content may be incorrect.">
            <a:extLst>
              <a:ext uri="{FF2B5EF4-FFF2-40B4-BE49-F238E27FC236}">
                <a16:creationId xmlns:a16="http://schemas.microsoft.com/office/drawing/2014/main" id="{4305A8A4-546A-09C3-5C7E-221377364339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backgroundMark x1="37412" y1="86981" x2="38000" y2="86981"/>
                        <a14:backgroundMark x1="39882" y1="86981" x2="39882" y2="86981"/>
                        <a14:backgroundMark x1="39059" y1="87358" x2="39059" y2="87358"/>
                        <a14:backgroundMark x1="37294" y1="87170" x2="37294" y2="87170"/>
                        <a14:backgroundMark x1="36471" y1="87358" x2="36471" y2="87358"/>
                        <a14:backgroundMark x1="40824" y1="86981" x2="40824" y2="869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9699754" flipH="1">
            <a:off x="8289280" y="1585640"/>
            <a:ext cx="2144968" cy="1103078"/>
          </a:xfrm>
          <a:prstGeom prst="rect">
            <a:avLst/>
          </a:prstGeom>
        </p:spPr>
      </p:pic>
      <p:pic>
        <p:nvPicPr>
          <p:cNvPr id="15" name="Picture 14" descr="A black arrow pointing up&#10;&#10;AI-generated content may be incorrect.">
            <a:extLst>
              <a:ext uri="{FF2B5EF4-FFF2-40B4-BE49-F238E27FC236}">
                <a16:creationId xmlns:a16="http://schemas.microsoft.com/office/drawing/2014/main" id="{4B7BE9C9-C0A9-658A-381F-A5749A6EBA29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backgroundMark x1="37412" y1="86981" x2="38000" y2="86981"/>
                        <a14:backgroundMark x1="39882" y1="86981" x2="39882" y2="86981"/>
                        <a14:backgroundMark x1="39059" y1="87358" x2="39059" y2="87358"/>
                        <a14:backgroundMark x1="37294" y1="87170" x2="37294" y2="87170"/>
                        <a14:backgroundMark x1="36471" y1="87358" x2="36471" y2="87358"/>
                        <a14:backgroundMark x1="40824" y1="86981" x2="40824" y2="869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5353751" flipH="1">
            <a:off x="9792330" y="4562112"/>
            <a:ext cx="2144968" cy="1103078"/>
          </a:xfrm>
          <a:prstGeom prst="rect">
            <a:avLst/>
          </a:prstGeom>
        </p:spPr>
      </p:pic>
      <p:pic>
        <p:nvPicPr>
          <p:cNvPr id="16" name="Picture 15" descr="A black arrow pointing up&#10;&#10;AI-generated content may be incorrect.">
            <a:extLst>
              <a:ext uri="{FF2B5EF4-FFF2-40B4-BE49-F238E27FC236}">
                <a16:creationId xmlns:a16="http://schemas.microsoft.com/office/drawing/2014/main" id="{6C677434-5D22-4CA0-D9F4-A0DE0E93461C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backgroundMark x1="37412" y1="86981" x2="38000" y2="86981"/>
                        <a14:backgroundMark x1="39882" y1="86981" x2="39882" y2="86981"/>
                        <a14:backgroundMark x1="39059" y1="87358" x2="39059" y2="87358"/>
                        <a14:backgroundMark x1="37294" y1="87170" x2="37294" y2="87170"/>
                        <a14:backgroundMark x1="36471" y1="87358" x2="36471" y2="87358"/>
                        <a14:backgroundMark x1="40824" y1="86981" x2="40824" y2="869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749669" flipH="1">
            <a:off x="4021919" y="4513642"/>
            <a:ext cx="2144968" cy="1103078"/>
          </a:xfrm>
          <a:prstGeom prst="rect">
            <a:avLst/>
          </a:prstGeom>
        </p:spPr>
      </p:pic>
      <p:pic>
        <p:nvPicPr>
          <p:cNvPr id="20" name="Picture 19" descr="A black arrow pointing up&#10;&#10;AI-generated content may be incorrect.">
            <a:extLst>
              <a:ext uri="{FF2B5EF4-FFF2-40B4-BE49-F238E27FC236}">
                <a16:creationId xmlns:a16="http://schemas.microsoft.com/office/drawing/2014/main" id="{53352C12-7053-1EAC-7C4A-C42FFB49F9BD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backgroundMark x1="37412" y1="86981" x2="38000" y2="86981"/>
                        <a14:backgroundMark x1="39882" y1="86981" x2="39882" y2="86981"/>
                        <a14:backgroundMark x1="39059" y1="87358" x2="39059" y2="87358"/>
                        <a14:backgroundMark x1="37294" y1="87170" x2="37294" y2="87170"/>
                        <a14:backgroundMark x1="36471" y1="87358" x2="36471" y2="87358"/>
                        <a14:backgroundMark x1="40824" y1="86981" x2="40824" y2="869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6795794" flipH="1">
            <a:off x="4809500" y="1896927"/>
            <a:ext cx="2144968" cy="1103078"/>
          </a:xfrm>
          <a:prstGeom prst="rect">
            <a:avLst/>
          </a:prstGeom>
        </p:spPr>
      </p:pic>
      <p:pic>
        <p:nvPicPr>
          <p:cNvPr id="24" name="Picture 23" descr="A black arrow pointing up&#10;&#10;AI-generated content may be incorrect.">
            <a:extLst>
              <a:ext uri="{FF2B5EF4-FFF2-40B4-BE49-F238E27FC236}">
                <a16:creationId xmlns:a16="http://schemas.microsoft.com/office/drawing/2014/main" id="{F73290FA-0123-97A6-87D6-6267F7797097}"/>
              </a:ext>
            </a:extLst>
          </p:cNvPr>
          <p:cNvPicPr>
            <a:picLocks noChangeAspect="1"/>
          </p:cNvPicPr>
          <p:nvPr/>
        </p:nvPicPr>
        <p:blipFill>
          <a:blip r:embed="rId7">
            <a:lum bright="70000" contrast="-70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backgroundRemoval t="10000" b="90000" l="10000" r="90000">
                        <a14:backgroundMark x1="37412" y1="86981" x2="38000" y2="86981"/>
                        <a14:backgroundMark x1="39882" y1="86981" x2="39882" y2="86981"/>
                        <a14:backgroundMark x1="39059" y1="87358" x2="39059" y2="87358"/>
                        <a14:backgroundMark x1="37294" y1="87170" x2="37294" y2="87170"/>
                        <a14:backgroundMark x1="36471" y1="87358" x2="36471" y2="87358"/>
                        <a14:backgroundMark x1="40824" y1="86981" x2="40824" y2="86981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3501471">
            <a:off x="6660642" y="4044488"/>
            <a:ext cx="2517673" cy="14817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486714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63D6C31-4741-B461-8CCD-FB27D5CD76B1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2917D710-94DA-2E5C-ECEE-F4F93641FB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44201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FFFF00"/>
                </a:solidFill>
              </a:rPr>
              <a:t>Solution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96857D7-42DB-C66A-3A3C-5233BBB7F5ED}"/>
              </a:ext>
            </a:extLst>
          </p:cNvPr>
          <p:cNvSpPr txBox="1"/>
          <p:nvPr/>
        </p:nvSpPr>
        <p:spPr>
          <a:xfrm>
            <a:off x="1153160" y="1216857"/>
            <a:ext cx="6019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6000" b="1" dirty="0">
                <a:solidFill>
                  <a:schemeClr val="bg1"/>
                </a:solidFill>
                <a:latin typeface="Agency FB" panose="020B0503020202020204" pitchFamily="34" charset="0"/>
              </a:rPr>
              <a:t>Braille Master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D6CAC0-A935-4AB5-F009-AE015D3D7690}"/>
              </a:ext>
            </a:extLst>
          </p:cNvPr>
          <p:cNvSpPr txBox="1"/>
          <p:nvPr/>
        </p:nvSpPr>
        <p:spPr>
          <a:xfrm>
            <a:off x="1153160" y="2126921"/>
            <a:ext cx="999744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</a:rPr>
              <a:t>A simple, accessible, affordable, ergonomic keyboard with many features and customizability.</a:t>
            </a:r>
          </a:p>
        </p:txBody>
      </p:sp>
      <p:pic>
        <p:nvPicPr>
          <p:cNvPr id="10" name="Picture 9" descr="A box with a picture of a garmentille master&#10;&#10;AI-generated content may be incorrect.">
            <a:extLst>
              <a:ext uri="{FF2B5EF4-FFF2-40B4-BE49-F238E27FC236}">
                <a16:creationId xmlns:a16="http://schemas.microsoft.com/office/drawing/2014/main" id="{96393DF4-B6C7-EEC1-7E05-516C462C855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3033" t="60131" r="32851" b="14418"/>
          <a:stretch/>
        </p:blipFill>
        <p:spPr>
          <a:xfrm>
            <a:off x="2181860" y="3063517"/>
            <a:ext cx="7828280" cy="365028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320555555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7CB32D-56EA-5CA2-6B71-5093537D79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88F899CE-4134-88F7-8015-714ADB04E6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44201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FFFF00"/>
                </a:solidFill>
              </a:rPr>
              <a:t>Design and Layout</a:t>
            </a:r>
          </a:p>
        </p:txBody>
      </p:sp>
      <p:pic>
        <p:nvPicPr>
          <p:cNvPr id="9" name="Picture 8" descr="A blue and white map&#10;&#10;AI-generated content may be incorrect.">
            <a:extLst>
              <a:ext uri="{FF2B5EF4-FFF2-40B4-BE49-F238E27FC236}">
                <a16:creationId xmlns:a16="http://schemas.microsoft.com/office/drawing/2014/main" id="{13D2EF31-E1AE-34B3-5F96-CEEE0749C5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279" y="1317843"/>
            <a:ext cx="5303520" cy="266875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1" name="Picture 10" descr="A green circuit board on a wood surface&#10;&#10;AI-generated content may be incorrect.">
            <a:extLst>
              <a:ext uri="{FF2B5EF4-FFF2-40B4-BE49-F238E27FC236}">
                <a16:creationId xmlns:a16="http://schemas.microsoft.com/office/drawing/2014/main" id="{74E50D6C-342F-2E75-1C97-C1C818FD229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432" b="15259"/>
          <a:stretch/>
        </p:blipFill>
        <p:spPr>
          <a:xfrm rot="10800000">
            <a:off x="6096000" y="1317844"/>
            <a:ext cx="5632299" cy="2668758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pic>
        <p:nvPicPr>
          <p:cNvPr id="13" name="Picture 12" descr="A green circuit board with red and white buttons&#10;&#10;AI-generated content may be incorrect.">
            <a:extLst>
              <a:ext uri="{FF2B5EF4-FFF2-40B4-BE49-F238E27FC236}">
                <a16:creationId xmlns:a16="http://schemas.microsoft.com/office/drawing/2014/main" id="{CF360449-0E33-5290-DE93-CCB984A4D05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58" r="23475"/>
          <a:stretch/>
        </p:blipFill>
        <p:spPr>
          <a:xfrm rot="5400000">
            <a:off x="4565753" y="2514002"/>
            <a:ext cx="2654093" cy="581660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B09EF2C7-002F-C956-7FD6-5237C9EE3D26}"/>
              </a:ext>
            </a:extLst>
          </p:cNvPr>
          <p:cNvSpPr txBox="1"/>
          <p:nvPr/>
        </p:nvSpPr>
        <p:spPr>
          <a:xfrm>
            <a:off x="9601200" y="4805050"/>
            <a:ext cx="2032000" cy="14702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solidFill>
                  <a:schemeClr val="bg1"/>
                </a:solidFill>
              </a:rPr>
              <a:t>KiCad</a:t>
            </a:r>
            <a:endParaRPr lang="en-US" sz="2400" dirty="0">
              <a:solidFill>
                <a:schemeClr val="bg1"/>
              </a:solidFill>
            </a:endParaRPr>
          </a:p>
          <a:p>
            <a:pPr marL="342900" indent="-34290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Fusion 360</a:t>
            </a:r>
          </a:p>
        </p:txBody>
      </p:sp>
    </p:spTree>
    <p:extLst>
      <p:ext uri="{BB962C8B-B14F-4D97-AF65-F5344CB8AC3E}">
        <p14:creationId xmlns:p14="http://schemas.microsoft.com/office/powerpoint/2010/main" val="145713546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7CB32D-56EA-5CA2-6B71-5093537D79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A8D3EB86-393F-74EF-AFB4-2777929D8B4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0582824"/>
              </p:ext>
            </p:extLst>
          </p:nvPr>
        </p:nvGraphicFramePr>
        <p:xfrm>
          <a:off x="853440" y="1115060"/>
          <a:ext cx="10505440" cy="4627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252720">
                  <a:extLst>
                    <a:ext uri="{9D8B030D-6E8A-4147-A177-3AD203B41FA5}">
                      <a16:colId xmlns:a16="http://schemas.microsoft.com/office/drawing/2014/main" val="3501842630"/>
                    </a:ext>
                  </a:extLst>
                </a:gridCol>
                <a:gridCol w="5252720">
                  <a:extLst>
                    <a:ext uri="{9D8B030D-6E8A-4147-A177-3AD203B41FA5}">
                      <a16:colId xmlns:a16="http://schemas.microsoft.com/office/drawing/2014/main" val="2208897853"/>
                    </a:ext>
                  </a:extLst>
                </a:gridCol>
              </a:tblGrid>
              <a:tr h="578485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Item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Prices (LKR)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51561284"/>
                  </a:ext>
                </a:extLst>
              </a:tr>
              <a:tr h="578485">
                <a:tc>
                  <a:txBody>
                    <a:bodyPr/>
                    <a:lstStyle/>
                    <a:p>
                      <a:r>
                        <a:rPr lang="en-US" dirty="0"/>
                        <a:t>PCB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3,614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1359332"/>
                  </a:ext>
                </a:extLst>
              </a:tr>
              <a:tr h="578485">
                <a:tc>
                  <a:txBody>
                    <a:bodyPr/>
                    <a:lstStyle/>
                    <a:p>
                      <a:r>
                        <a:rPr lang="en-US" dirty="0"/>
                        <a:t>Components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2,500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79078003"/>
                  </a:ext>
                </a:extLst>
              </a:tr>
              <a:tr h="578485">
                <a:tc>
                  <a:txBody>
                    <a:bodyPr/>
                    <a:lstStyle/>
                    <a:p>
                      <a:r>
                        <a:rPr lang="en-US" dirty="0"/>
                        <a:t>Encloser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3,825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45279619"/>
                  </a:ext>
                </a:extLst>
              </a:tr>
              <a:tr h="578485">
                <a:tc>
                  <a:txBody>
                    <a:bodyPr/>
                    <a:lstStyle/>
                    <a:p>
                      <a:r>
                        <a:rPr lang="en-US" dirty="0"/>
                        <a:t>Custom Key Caps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14665445"/>
                  </a:ext>
                </a:extLst>
              </a:tr>
              <a:tr h="578485">
                <a:tc>
                  <a:txBody>
                    <a:bodyPr/>
                    <a:lstStyle/>
                    <a:p>
                      <a:r>
                        <a:rPr lang="en-US" dirty="0"/>
                        <a:t>Mechanical Keys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3,100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8817001"/>
                  </a:ext>
                </a:extLst>
              </a:tr>
              <a:tr h="578485">
                <a:tc>
                  <a:txBody>
                    <a:bodyPr/>
                    <a:lstStyle/>
                    <a:p>
                      <a:r>
                        <a:rPr lang="en-US" dirty="0"/>
                        <a:t>Printing and Packaging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1,800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73153794"/>
                  </a:ext>
                </a:extLst>
              </a:tr>
              <a:tr h="578485">
                <a:tc>
                  <a:txBody>
                    <a:bodyPr/>
                    <a:lstStyle/>
                    <a:p>
                      <a:r>
                        <a:rPr lang="en-US" dirty="0"/>
                        <a:t>Total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15,939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5575113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92A8612B-4B63-3F8E-F71B-1211F28C1831}"/>
              </a:ext>
            </a:extLst>
          </p:cNvPr>
          <p:cNvSpPr txBox="1"/>
          <p:nvPr/>
        </p:nvSpPr>
        <p:spPr>
          <a:xfrm>
            <a:off x="843280" y="521007"/>
            <a:ext cx="10515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</a:rPr>
              <a:t>Cost of a Unit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A267CB9F-550D-5D56-56B7-B11963E70E01}"/>
              </a:ext>
            </a:extLst>
          </p:cNvPr>
          <p:cNvSpPr txBox="1"/>
          <p:nvPr/>
        </p:nvSpPr>
        <p:spPr>
          <a:xfrm>
            <a:off x="853440" y="5976927"/>
            <a:ext cx="105156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b="1" dirty="0">
                <a:solidFill>
                  <a:schemeClr val="bg1"/>
                </a:solidFill>
              </a:rPr>
              <a:t>*One fifth of a price of a existing braille keyboard!</a:t>
            </a:r>
          </a:p>
        </p:txBody>
      </p:sp>
    </p:spTree>
    <p:extLst>
      <p:ext uri="{BB962C8B-B14F-4D97-AF65-F5344CB8AC3E}">
        <p14:creationId xmlns:p14="http://schemas.microsoft.com/office/powerpoint/2010/main" val="7279559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B7CB32D-56EA-5CA2-6B71-5093537D79E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 descr="A box with a picture of a garmentille master&#10;&#10;AI-generated content may be incorrect.">
            <a:extLst>
              <a:ext uri="{FF2B5EF4-FFF2-40B4-BE49-F238E27FC236}">
                <a16:creationId xmlns:a16="http://schemas.microsoft.com/office/drawing/2014/main" id="{439F69B7-6253-3D6A-D25C-1784F51531D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316" t="60170" r="34399" b="14418"/>
          <a:stretch/>
        </p:blipFill>
        <p:spPr>
          <a:xfrm>
            <a:off x="2143760" y="1243685"/>
            <a:ext cx="7904481" cy="4013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FC81D73-DB10-A248-C178-C990D6D66925}"/>
              </a:ext>
            </a:extLst>
          </p:cNvPr>
          <p:cNvSpPr txBox="1"/>
          <p:nvPr/>
        </p:nvSpPr>
        <p:spPr>
          <a:xfrm>
            <a:off x="4907280" y="5469768"/>
            <a:ext cx="2377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Braille Keys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5B8484-EFC8-2C6B-AF7D-4A6FAF806CA2}"/>
              </a:ext>
            </a:extLst>
          </p:cNvPr>
          <p:cNvSpPr txBox="1"/>
          <p:nvPr/>
        </p:nvSpPr>
        <p:spPr>
          <a:xfrm>
            <a:off x="4907280" y="573426"/>
            <a:ext cx="2377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Number Keys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D5EF889-577F-0762-8B73-E6F441B1F878}"/>
              </a:ext>
            </a:extLst>
          </p:cNvPr>
          <p:cNvSpPr txBox="1"/>
          <p:nvPr/>
        </p:nvSpPr>
        <p:spPr>
          <a:xfrm>
            <a:off x="8036560" y="637233"/>
            <a:ext cx="2377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Delete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93F962D-4FC0-B922-A98A-1D7BD19369DB}"/>
              </a:ext>
            </a:extLst>
          </p:cNvPr>
          <p:cNvSpPr txBox="1"/>
          <p:nvPr/>
        </p:nvSpPr>
        <p:spPr>
          <a:xfrm>
            <a:off x="2316479" y="596593"/>
            <a:ext cx="2377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Mode Key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BD67D566-BDB7-BA23-A8FC-65692042673F}"/>
              </a:ext>
            </a:extLst>
          </p:cNvPr>
          <p:cNvSpPr txBox="1"/>
          <p:nvPr/>
        </p:nvSpPr>
        <p:spPr>
          <a:xfrm>
            <a:off x="-116840" y="2357269"/>
            <a:ext cx="2377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Feature Keys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E03320-81AE-593A-EC53-38434D0895E9}"/>
              </a:ext>
            </a:extLst>
          </p:cNvPr>
          <p:cNvSpPr txBox="1"/>
          <p:nvPr/>
        </p:nvSpPr>
        <p:spPr>
          <a:xfrm>
            <a:off x="9814560" y="1895604"/>
            <a:ext cx="2377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Custom Keys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6CFD6261-2E1D-E4AB-7D21-490F04EC5838}"/>
              </a:ext>
            </a:extLst>
          </p:cNvPr>
          <p:cNvSpPr txBox="1"/>
          <p:nvPr/>
        </p:nvSpPr>
        <p:spPr>
          <a:xfrm>
            <a:off x="9814560" y="3920951"/>
            <a:ext cx="2377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Program Key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E70BCFB6-6765-3C20-38D9-1FDD304D305D}"/>
              </a:ext>
            </a:extLst>
          </p:cNvPr>
          <p:cNvSpPr txBox="1"/>
          <p:nvPr/>
        </p:nvSpPr>
        <p:spPr>
          <a:xfrm>
            <a:off x="7752080" y="5437082"/>
            <a:ext cx="2377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Backspace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9A47B2C-C90F-287F-5549-199ED98FC8C6}"/>
              </a:ext>
            </a:extLst>
          </p:cNvPr>
          <p:cNvSpPr txBox="1"/>
          <p:nvPr/>
        </p:nvSpPr>
        <p:spPr>
          <a:xfrm>
            <a:off x="7752080" y="6032911"/>
            <a:ext cx="2377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Space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73E4F57-F69C-E791-EDB5-9F015BDF859F}"/>
              </a:ext>
            </a:extLst>
          </p:cNvPr>
          <p:cNvSpPr txBox="1"/>
          <p:nvPr/>
        </p:nvSpPr>
        <p:spPr>
          <a:xfrm>
            <a:off x="2316479" y="5400355"/>
            <a:ext cx="2377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Enter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3454FE3D-85A1-8C8A-48BF-E3A282FEFBA0}"/>
              </a:ext>
            </a:extLst>
          </p:cNvPr>
          <p:cNvSpPr txBox="1"/>
          <p:nvPr/>
        </p:nvSpPr>
        <p:spPr>
          <a:xfrm>
            <a:off x="2458720" y="6005490"/>
            <a:ext cx="23774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Caps Lock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CD5DAB3-AE13-3E32-915C-F9AF48914092}"/>
              </a:ext>
            </a:extLst>
          </p:cNvPr>
          <p:cNvCxnSpPr/>
          <p:nvPr/>
        </p:nvCxnSpPr>
        <p:spPr>
          <a:xfrm>
            <a:off x="3931920" y="1035091"/>
            <a:ext cx="640080" cy="860513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7518E03C-10CD-12DE-2D10-73DA5986D027}"/>
              </a:ext>
            </a:extLst>
          </p:cNvPr>
          <p:cNvCxnSpPr>
            <a:cxnSpLocks/>
          </p:cNvCxnSpPr>
          <p:nvPr/>
        </p:nvCxnSpPr>
        <p:spPr>
          <a:xfrm flipV="1">
            <a:off x="1971040" y="2357269"/>
            <a:ext cx="1717040" cy="18150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52F33954-FED1-34C0-C977-6A80837CABC3}"/>
              </a:ext>
            </a:extLst>
          </p:cNvPr>
          <p:cNvCxnSpPr>
            <a:cxnSpLocks/>
          </p:cNvCxnSpPr>
          <p:nvPr/>
        </p:nvCxnSpPr>
        <p:spPr>
          <a:xfrm>
            <a:off x="1971040" y="2538771"/>
            <a:ext cx="1524000" cy="18410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5961A4D7-1D95-1ADD-8FB5-77547D9DF9CF}"/>
              </a:ext>
            </a:extLst>
          </p:cNvPr>
          <p:cNvCxnSpPr>
            <a:cxnSpLocks/>
          </p:cNvCxnSpPr>
          <p:nvPr/>
        </p:nvCxnSpPr>
        <p:spPr>
          <a:xfrm>
            <a:off x="1971040" y="2557780"/>
            <a:ext cx="1310640" cy="571035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3C838A47-6F18-A1AC-22AC-33C275E67269}"/>
              </a:ext>
            </a:extLst>
          </p:cNvPr>
          <p:cNvCxnSpPr>
            <a:cxnSpLocks/>
          </p:cNvCxnSpPr>
          <p:nvPr/>
        </p:nvCxnSpPr>
        <p:spPr>
          <a:xfrm>
            <a:off x="6111240" y="1035091"/>
            <a:ext cx="899158" cy="150368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B4C6DD8-3F1C-3703-7CF2-7549BA1608E5}"/>
              </a:ext>
            </a:extLst>
          </p:cNvPr>
          <p:cNvCxnSpPr>
            <a:cxnSpLocks/>
          </p:cNvCxnSpPr>
          <p:nvPr/>
        </p:nvCxnSpPr>
        <p:spPr>
          <a:xfrm flipH="1">
            <a:off x="5252720" y="1058258"/>
            <a:ext cx="858520" cy="149952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7CF0FE6F-F48D-83C8-D8F2-C957C0B7D6C9}"/>
              </a:ext>
            </a:extLst>
          </p:cNvPr>
          <p:cNvCxnSpPr>
            <a:cxnSpLocks/>
          </p:cNvCxnSpPr>
          <p:nvPr/>
        </p:nvCxnSpPr>
        <p:spPr>
          <a:xfrm flipH="1">
            <a:off x="7797799" y="1098898"/>
            <a:ext cx="1026161" cy="974050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A30036F6-A2CC-EFFD-D27E-7FA344904E6C}"/>
              </a:ext>
            </a:extLst>
          </p:cNvPr>
          <p:cNvCxnSpPr>
            <a:cxnSpLocks/>
          </p:cNvCxnSpPr>
          <p:nvPr/>
        </p:nvCxnSpPr>
        <p:spPr>
          <a:xfrm flipH="1" flipV="1">
            <a:off x="4587239" y="3527225"/>
            <a:ext cx="1295401" cy="1938254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D432F96C-55F5-8F35-67FF-C5C09D4C7349}"/>
              </a:ext>
            </a:extLst>
          </p:cNvPr>
          <p:cNvCxnSpPr>
            <a:cxnSpLocks/>
          </p:cNvCxnSpPr>
          <p:nvPr/>
        </p:nvCxnSpPr>
        <p:spPr>
          <a:xfrm flipV="1">
            <a:off x="6350000" y="3429000"/>
            <a:ext cx="1460499" cy="203647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6874611A-2F70-8A5D-C06D-F998BD7A2553}"/>
              </a:ext>
            </a:extLst>
          </p:cNvPr>
          <p:cNvCxnSpPr>
            <a:cxnSpLocks/>
          </p:cNvCxnSpPr>
          <p:nvPr/>
        </p:nvCxnSpPr>
        <p:spPr>
          <a:xfrm flipH="1" flipV="1">
            <a:off x="9225280" y="3920951"/>
            <a:ext cx="822960" cy="23083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39150216-2763-3C37-E7EC-A3DEAB545C38}"/>
              </a:ext>
            </a:extLst>
          </p:cNvPr>
          <p:cNvCxnSpPr>
            <a:cxnSpLocks/>
          </p:cNvCxnSpPr>
          <p:nvPr/>
        </p:nvCxnSpPr>
        <p:spPr>
          <a:xfrm flipH="1">
            <a:off x="8717280" y="2188364"/>
            <a:ext cx="1412240" cy="534516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8" name="Straight Arrow Connector 57">
            <a:extLst>
              <a:ext uri="{FF2B5EF4-FFF2-40B4-BE49-F238E27FC236}">
                <a16:creationId xmlns:a16="http://schemas.microsoft.com/office/drawing/2014/main" id="{446BBA46-2F5E-6173-A256-221F2279F9D3}"/>
              </a:ext>
            </a:extLst>
          </p:cNvPr>
          <p:cNvCxnSpPr>
            <a:cxnSpLocks/>
          </p:cNvCxnSpPr>
          <p:nvPr/>
        </p:nvCxnSpPr>
        <p:spPr>
          <a:xfrm flipH="1">
            <a:off x="8940800" y="2196453"/>
            <a:ext cx="1254762" cy="932362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16670CF5-F879-EA68-12BB-975DB2449805}"/>
              </a:ext>
            </a:extLst>
          </p:cNvPr>
          <p:cNvCxnSpPr>
            <a:cxnSpLocks/>
          </p:cNvCxnSpPr>
          <p:nvPr/>
        </p:nvCxnSpPr>
        <p:spPr>
          <a:xfrm flipH="1">
            <a:off x="8427719" y="2152618"/>
            <a:ext cx="1701801" cy="175605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608A0C6E-7518-EF4F-BACB-F5159C8697BD}"/>
              </a:ext>
            </a:extLst>
          </p:cNvPr>
          <p:cNvCxnSpPr>
            <a:cxnSpLocks/>
          </p:cNvCxnSpPr>
          <p:nvPr/>
        </p:nvCxnSpPr>
        <p:spPr>
          <a:xfrm flipV="1">
            <a:off x="3647440" y="3648066"/>
            <a:ext cx="1813560" cy="175228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D2F0F70C-977B-3E66-573B-55515A250224}"/>
              </a:ext>
            </a:extLst>
          </p:cNvPr>
          <p:cNvCxnSpPr>
            <a:cxnSpLocks/>
          </p:cNvCxnSpPr>
          <p:nvPr/>
        </p:nvCxnSpPr>
        <p:spPr>
          <a:xfrm flipV="1">
            <a:off x="3754121" y="4299985"/>
            <a:ext cx="1813560" cy="1752289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284A0723-F7A1-F6CF-694C-3DD6857886B0}"/>
              </a:ext>
            </a:extLst>
          </p:cNvPr>
          <p:cNvCxnSpPr>
            <a:cxnSpLocks/>
          </p:cNvCxnSpPr>
          <p:nvPr/>
        </p:nvCxnSpPr>
        <p:spPr>
          <a:xfrm flipH="1" flipV="1">
            <a:off x="6776719" y="4291233"/>
            <a:ext cx="1534160" cy="1898063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9" name="Straight Arrow Connector 68">
            <a:extLst>
              <a:ext uri="{FF2B5EF4-FFF2-40B4-BE49-F238E27FC236}">
                <a16:creationId xmlns:a16="http://schemas.microsoft.com/office/drawing/2014/main" id="{B1CEBEA8-D3B8-67A8-F98A-BB1DD54E92B0}"/>
              </a:ext>
            </a:extLst>
          </p:cNvPr>
          <p:cNvCxnSpPr>
            <a:cxnSpLocks/>
          </p:cNvCxnSpPr>
          <p:nvPr/>
        </p:nvCxnSpPr>
        <p:spPr>
          <a:xfrm flipH="1" flipV="1">
            <a:off x="6858001" y="3716252"/>
            <a:ext cx="1473200" cy="1749227"/>
          </a:xfrm>
          <a:prstGeom prst="straightConnector1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86563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1B0C5E-680A-B44E-542D-AD161A0431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77865C9C-0D92-F164-62C3-CC79C3D14F9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144201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FFFF00"/>
                </a:solidFill>
              </a:rPr>
              <a:t>Features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E4C828F-F8D4-CF43-271D-B973E0827C32}"/>
              </a:ext>
            </a:extLst>
          </p:cNvPr>
          <p:cNvSpPr txBox="1"/>
          <p:nvPr/>
        </p:nvSpPr>
        <p:spPr>
          <a:xfrm>
            <a:off x="635000" y="1278119"/>
            <a:ext cx="10515600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USB-C Compatible – Plug and play, no additional drivers are required.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25 Mechanical keys for smooth and satisfying feel.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Ergonomic design for  comfortability.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Custom printed concave and flat keycaps for easy identification.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Windows and Linux Support.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Optimized for NVDA and JAWS screen readers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bg1"/>
                </a:solidFill>
              </a:rPr>
              <a:t>Splash-resistant chassis for durability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919472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F1B0C5E-680A-B44E-542D-AD161A0431E2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206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8" descr="The Fascinating History of the Cut, Copy, and Paste Shortcuts - Hexafusion  IT Solutions Blog | Vancouver, BC | Hexafusion IT Solutions">
            <a:extLst>
              <a:ext uri="{FF2B5EF4-FFF2-40B4-BE49-F238E27FC236}">
                <a16:creationId xmlns:a16="http://schemas.microsoft.com/office/drawing/2014/main" id="{FCC6ABBE-A57E-A937-9BD9-55F7362D92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1842" b="24163"/>
          <a:stretch/>
        </p:blipFill>
        <p:spPr bwMode="auto">
          <a:xfrm>
            <a:off x="7178301" y="3714459"/>
            <a:ext cx="2296212" cy="1110684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C89252-479D-4A67-5434-635075BC2B8B}"/>
              </a:ext>
            </a:extLst>
          </p:cNvPr>
          <p:cNvSpPr txBox="1"/>
          <p:nvPr/>
        </p:nvSpPr>
        <p:spPr>
          <a:xfrm>
            <a:off x="897903" y="5464366"/>
            <a:ext cx="7131711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Customizable Keys</a:t>
            </a:r>
          </a:p>
          <a:p>
            <a:pPr algn="just"/>
            <a:r>
              <a:rPr lang="en-US" sz="2200" dirty="0">
                <a:solidFill>
                  <a:schemeClr val="bg1"/>
                </a:solidFill>
              </a:rPr>
              <a:t>can use to add characters to these keys using the program key.</a:t>
            </a:r>
          </a:p>
        </p:txBody>
      </p:sp>
      <p:pic>
        <p:nvPicPr>
          <p:cNvPr id="11" name="Picture 10" descr="A box with a picture of a garmentille master&#10;&#10;AI-generated content may be incorrect.">
            <a:extLst>
              <a:ext uri="{FF2B5EF4-FFF2-40B4-BE49-F238E27FC236}">
                <a16:creationId xmlns:a16="http://schemas.microsoft.com/office/drawing/2014/main" id="{C287E13A-AC65-6044-3FC0-12BF73F2C8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357" t="64349" r="34399" b="17188"/>
          <a:stretch/>
        </p:blipFill>
        <p:spPr>
          <a:xfrm>
            <a:off x="8459513" y="5293364"/>
            <a:ext cx="994729" cy="139261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8E9B3560-233A-FE8B-B9FB-31F1A25DA987}"/>
              </a:ext>
            </a:extLst>
          </p:cNvPr>
          <p:cNvSpPr txBox="1"/>
          <p:nvPr/>
        </p:nvSpPr>
        <p:spPr>
          <a:xfrm>
            <a:off x="9914635" y="6115593"/>
            <a:ext cx="1989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</a:rPr>
              <a:t>Program Key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32E9F879-A776-DDEA-2AE7-325FCB6A3C7C}"/>
              </a:ext>
            </a:extLst>
          </p:cNvPr>
          <p:cNvSpPr txBox="1"/>
          <p:nvPr/>
        </p:nvSpPr>
        <p:spPr>
          <a:xfrm>
            <a:off x="10099077" y="5215298"/>
            <a:ext cx="198945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400" dirty="0">
                <a:solidFill>
                  <a:schemeClr val="bg1"/>
                </a:solidFill>
              </a:rPr>
              <a:t>Custom Keys</a:t>
            </a: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3FCBCB3A-F424-7CDC-3B94-E185AB76A43E}"/>
              </a:ext>
            </a:extLst>
          </p:cNvPr>
          <p:cNvCxnSpPr>
            <a:cxnSpLocks/>
          </p:cNvCxnSpPr>
          <p:nvPr/>
        </p:nvCxnSpPr>
        <p:spPr>
          <a:xfrm rot="10800000">
            <a:off x="9165006" y="6141802"/>
            <a:ext cx="749629" cy="230832"/>
          </a:xfrm>
          <a:prstGeom prst="bentConnector3">
            <a:avLst/>
          </a:prstGeom>
          <a:ln w="57150"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DC34603-956A-F372-72C0-05E88E1CEA0D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8638170" y="5446131"/>
            <a:ext cx="1460907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70F6EDB7-F87C-8684-8FA4-A9FDD43B7D7D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8771903" y="5446131"/>
            <a:ext cx="1327174" cy="230832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2218A4F5-DB52-5F0F-0FD3-D10BD4E39B9B}"/>
              </a:ext>
            </a:extLst>
          </p:cNvPr>
          <p:cNvCxnSpPr>
            <a:cxnSpLocks/>
            <a:stCxn id="13" idx="1"/>
          </p:cNvCxnSpPr>
          <p:nvPr/>
        </p:nvCxnSpPr>
        <p:spPr>
          <a:xfrm flipH="1">
            <a:off x="8967057" y="5446131"/>
            <a:ext cx="1132020" cy="461665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B78DDD2D-427F-A4E3-B663-771C586F872D}"/>
              </a:ext>
            </a:extLst>
          </p:cNvPr>
          <p:cNvSpPr txBox="1"/>
          <p:nvPr/>
        </p:nvSpPr>
        <p:spPr>
          <a:xfrm>
            <a:off x="860332" y="167763"/>
            <a:ext cx="6651661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200" dirty="0">
                <a:solidFill>
                  <a:schemeClr val="bg1"/>
                </a:solidFill>
              </a:rPr>
              <a:t>Modes: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Mode 1: Media Control (Default)</a:t>
            </a:r>
          </a:p>
          <a:p>
            <a:pPr algn="just"/>
            <a:r>
              <a:rPr lang="en-US" sz="2200" dirty="0">
                <a:solidFill>
                  <a:schemeClr val="bg1"/>
                </a:solidFill>
              </a:rPr>
              <a:t>	Top Key: Next Track</a:t>
            </a:r>
          </a:p>
          <a:p>
            <a:pPr algn="just"/>
            <a:r>
              <a:rPr lang="en-US" sz="2200" dirty="0">
                <a:solidFill>
                  <a:schemeClr val="bg1"/>
                </a:solidFill>
              </a:rPr>
              <a:t>	Middle Key: Play/Pause</a:t>
            </a:r>
          </a:p>
          <a:p>
            <a:pPr algn="just"/>
            <a:r>
              <a:rPr lang="en-US" sz="2200" dirty="0">
                <a:solidFill>
                  <a:schemeClr val="bg1"/>
                </a:solidFill>
              </a:rPr>
              <a:t>	Bottom Key: Previous Track</a:t>
            </a:r>
          </a:p>
          <a:p>
            <a:pPr algn="just"/>
            <a:endParaRPr lang="en-US" sz="22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Mode 2: System Modifiers (One Press)</a:t>
            </a:r>
          </a:p>
          <a:p>
            <a:pPr algn="just"/>
            <a:r>
              <a:rPr lang="en-US" sz="2200" dirty="0">
                <a:solidFill>
                  <a:schemeClr val="bg1"/>
                </a:solidFill>
              </a:rPr>
              <a:t>	Top Key: Control (Ctrl)</a:t>
            </a:r>
          </a:p>
          <a:p>
            <a:pPr algn="just"/>
            <a:r>
              <a:rPr lang="en-US" sz="2200" dirty="0">
                <a:solidFill>
                  <a:schemeClr val="bg1"/>
                </a:solidFill>
              </a:rPr>
              <a:t>	Middle Key: Alt</a:t>
            </a:r>
          </a:p>
          <a:p>
            <a:pPr algn="just"/>
            <a:r>
              <a:rPr lang="en-US" sz="2200" dirty="0">
                <a:solidFill>
                  <a:schemeClr val="bg1"/>
                </a:solidFill>
              </a:rPr>
              <a:t>	Bottom Key: Windows Key</a:t>
            </a:r>
          </a:p>
          <a:p>
            <a:pPr algn="just"/>
            <a:endParaRPr lang="en-US" sz="22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Mode 3: Clipboard (Two Presses)</a:t>
            </a:r>
          </a:p>
          <a:p>
            <a:pPr algn="just"/>
            <a:r>
              <a:rPr lang="en-US" sz="2200" dirty="0">
                <a:solidFill>
                  <a:schemeClr val="bg1"/>
                </a:solidFill>
              </a:rPr>
              <a:t>	Top Key: Paste</a:t>
            </a:r>
          </a:p>
          <a:p>
            <a:pPr algn="just"/>
            <a:r>
              <a:rPr lang="en-US" sz="2200" dirty="0">
                <a:solidFill>
                  <a:schemeClr val="bg1"/>
                </a:solidFill>
              </a:rPr>
              <a:t>	Middle Key: Cut</a:t>
            </a:r>
          </a:p>
          <a:p>
            <a:pPr algn="just"/>
            <a:r>
              <a:rPr lang="en-US" sz="2200" dirty="0">
                <a:solidFill>
                  <a:schemeClr val="bg1"/>
                </a:solidFill>
              </a:rPr>
              <a:t>	Bottom Key: Copy</a:t>
            </a:r>
          </a:p>
          <a:p>
            <a:pPr algn="just"/>
            <a:endParaRPr lang="en-US" sz="2200" dirty="0">
              <a:solidFill>
                <a:schemeClr val="bg1"/>
              </a:solidFill>
            </a:endParaRPr>
          </a:p>
        </p:txBody>
      </p:sp>
      <p:pic>
        <p:nvPicPr>
          <p:cNvPr id="31" name="Picture 4" descr="Ctrl Alt | LinkedIn">
            <a:extLst>
              <a:ext uri="{FF2B5EF4-FFF2-40B4-BE49-F238E27FC236}">
                <a16:creationId xmlns:a16="http://schemas.microsoft.com/office/drawing/2014/main" id="{D5440829-9B23-B804-B780-8A4B632425E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5200" y="2062454"/>
            <a:ext cx="1111207" cy="1111207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6" descr="57+ Thousand Windows Key Royalty-Free Images, Stock Photos &amp; Pictures |  Shutterstock">
            <a:extLst>
              <a:ext uri="{FF2B5EF4-FFF2-40B4-BE49-F238E27FC236}">
                <a16:creationId xmlns:a16="http://schemas.microsoft.com/office/drawing/2014/main" id="{B8A13E64-FBC0-709E-DD08-FF67E4AC3C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187" t="24093" r="18853" b="30563"/>
          <a:stretch/>
        </p:blipFill>
        <p:spPr bwMode="auto">
          <a:xfrm>
            <a:off x="8612790" y="2062454"/>
            <a:ext cx="1097609" cy="865023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2" descr="12+ Thousand Playback Button Royalty-Free Images, Stock Photos &amp; Pictures |  Shutterstock">
            <a:extLst>
              <a:ext uri="{FF2B5EF4-FFF2-40B4-BE49-F238E27FC236}">
                <a16:creationId xmlns:a16="http://schemas.microsoft.com/office/drawing/2014/main" id="{19DF4640-85C2-FEEC-CF9F-3667D6AFB9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165" b="67220"/>
          <a:stretch/>
        </p:blipFill>
        <p:spPr bwMode="auto">
          <a:xfrm>
            <a:off x="7159033" y="581361"/>
            <a:ext cx="2919724" cy="899732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8835183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40D089E3-AB43-771C-2A09-B4A1F7BA48B6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3" y="0"/>
            <a:ext cx="12177814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C4716BE2-26EC-0DA7-B31E-236B2394FF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40" y="398201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FFFF00"/>
                </a:solidFill>
              </a:rPr>
              <a:t>Use Cases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60B944F-5B40-4CEE-521C-2337FBBB3892}"/>
              </a:ext>
            </a:extLst>
          </p:cNvPr>
          <p:cNvSpPr txBox="1"/>
          <p:nvPr/>
        </p:nvSpPr>
        <p:spPr>
          <a:xfrm>
            <a:off x="581660" y="1704909"/>
            <a:ext cx="10622280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For students to take notes in class quietly.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For programmers to write code easily and save custom characters.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For musicians to use media controls while listening to audio tracks.</a:t>
            </a:r>
          </a:p>
          <a:p>
            <a:pPr algn="just"/>
            <a:endParaRPr lang="en-US" sz="2200" dirty="0">
              <a:solidFill>
                <a:schemeClr val="bg1"/>
              </a:solidFill>
            </a:endParaRPr>
          </a:p>
        </p:txBody>
      </p:sp>
      <p:pic>
        <p:nvPicPr>
          <p:cNvPr id="10242" name="Picture 2" descr="Transparent Student Typing Clipart - Typing In The Computer Clipart, HD Png  Download - kindpng">
            <a:extLst>
              <a:ext uri="{FF2B5EF4-FFF2-40B4-BE49-F238E27FC236}">
                <a16:creationId xmlns:a16="http://schemas.microsoft.com/office/drawing/2014/main" id="{3E94FDBC-899D-8143-248C-868EE01ACDA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317" b="6250"/>
          <a:stretch/>
        </p:blipFill>
        <p:spPr bwMode="auto">
          <a:xfrm>
            <a:off x="988060" y="4091262"/>
            <a:ext cx="3817620" cy="230596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4" name="Picture 4" descr="Computer Programmer Vector Art, Icons, and Graphics for Free Download">
            <a:extLst>
              <a:ext uri="{FF2B5EF4-FFF2-40B4-BE49-F238E27FC236}">
                <a16:creationId xmlns:a16="http://schemas.microsoft.com/office/drawing/2014/main" id="{63C85B1F-0561-A840-F8EE-69B4C6E93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99307" y="4091262"/>
            <a:ext cx="2305961" cy="230596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46" name="Picture 6" descr="Girl listening music with headphone and laptop cartoon vector icon  illustration. people technology icon concept isolated premium vector. flat  cartoon style | Premium Vector">
            <a:extLst>
              <a:ext uri="{FF2B5EF4-FFF2-40B4-BE49-F238E27FC236}">
                <a16:creationId xmlns:a16="http://schemas.microsoft.com/office/drawing/2014/main" id="{E9075FCE-67FB-E5A3-CB08-B06B01A9B4A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98895" y="4153838"/>
            <a:ext cx="2305961" cy="230596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865225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3B1A5D5-01D5-D387-93D6-ED122ADC0A8C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3" y="0"/>
            <a:ext cx="12177814" cy="6858000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098A29AF-2651-2E88-1566-A628A40449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8340" y="398201"/>
            <a:ext cx="10515600" cy="1325563"/>
          </a:xfrm>
        </p:spPr>
        <p:txBody>
          <a:bodyPr>
            <a:normAutofit/>
          </a:bodyPr>
          <a:lstStyle/>
          <a:p>
            <a:r>
              <a:rPr lang="en-US" sz="5400" dirty="0">
                <a:solidFill>
                  <a:srgbClr val="FFFF00"/>
                </a:solidFill>
              </a:rPr>
              <a:t>The Future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F8155FD-0FEF-FDE0-3CDD-2435BA13FBE9}"/>
              </a:ext>
            </a:extLst>
          </p:cNvPr>
          <p:cNvSpPr txBox="1"/>
          <p:nvPr/>
        </p:nvSpPr>
        <p:spPr>
          <a:xfrm>
            <a:off x="635000" y="1723764"/>
            <a:ext cx="10622280" cy="280076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Joystick for easy navigation. (make the keyboard all in one product).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Introduce Bluetooth accessibility for tabs and smart phone use.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Integrate refreshable braille display.</a:t>
            </a:r>
          </a:p>
          <a:p>
            <a:pPr marL="342900" indent="-342900" algn="just">
              <a:buFont typeface="Arial" panose="020B0604020202020204" pitchFamily="34" charset="0"/>
              <a:buChar char="•"/>
            </a:pPr>
            <a:endParaRPr lang="en-US" sz="2200" dirty="0">
              <a:solidFill>
                <a:schemeClr val="bg1"/>
              </a:solidFill>
            </a:endParaRPr>
          </a:p>
          <a:p>
            <a:pPr marL="342900" indent="-342900" algn="just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chemeClr val="bg1"/>
                </a:solidFill>
              </a:rPr>
              <a:t>Introduce a software for specific customizations.</a:t>
            </a:r>
          </a:p>
          <a:p>
            <a:pPr algn="just"/>
            <a:endParaRPr lang="en-US" sz="22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6472780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7BDA0A1F-A4E9-6CCC-C99A-5BB68C14055D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3" y="0"/>
            <a:ext cx="12177814" cy="685800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95EDAF64-B526-D8C3-C833-3F645AA078EA}"/>
              </a:ext>
            </a:extLst>
          </p:cNvPr>
          <p:cNvSpPr txBox="1">
            <a:spLocks/>
          </p:cNvSpPr>
          <p:nvPr/>
        </p:nvSpPr>
        <p:spPr>
          <a:xfrm>
            <a:off x="625846" y="30940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5400" dirty="0">
                <a:solidFill>
                  <a:srgbClr val="FFFF00"/>
                </a:solidFill>
              </a:rPr>
              <a:t>Conclusion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8DE7C97-9D47-DA8D-99A8-7DD8AEB290F4}"/>
              </a:ext>
            </a:extLst>
          </p:cNvPr>
          <p:cNvSpPr txBox="1"/>
          <p:nvPr/>
        </p:nvSpPr>
        <p:spPr>
          <a:xfrm>
            <a:off x="625846" y="1502886"/>
            <a:ext cx="10940307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2800" dirty="0">
                <a:solidFill>
                  <a:schemeClr val="bg1"/>
                </a:solidFill>
              </a:rPr>
              <a:t>We have taken the durability of mechanical switches, the speed of Perkins-style input, and the intelligence of modern macros—and combined them into one affordable, easy to use and accessible  device.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5977005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8E9360-CCF1-D193-7B06-46FE4F3D0D0B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93" y="0"/>
            <a:ext cx="12177814" cy="6858000"/>
          </a:xfrm>
          <a:prstGeom prst="rect">
            <a:avLst/>
          </a:prstGeom>
        </p:spPr>
      </p:pic>
      <p:sp>
        <p:nvSpPr>
          <p:cNvPr id="5" name="Title 1">
            <a:extLst>
              <a:ext uri="{FF2B5EF4-FFF2-40B4-BE49-F238E27FC236}">
                <a16:creationId xmlns:a16="http://schemas.microsoft.com/office/drawing/2014/main" id="{429766E8-6E79-0FAD-CE11-5056472BB891}"/>
              </a:ext>
            </a:extLst>
          </p:cNvPr>
          <p:cNvSpPr txBox="1">
            <a:spLocks/>
          </p:cNvSpPr>
          <p:nvPr/>
        </p:nvSpPr>
        <p:spPr>
          <a:xfrm>
            <a:off x="838200" y="2676683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9600" b="1" dirty="0">
                <a:solidFill>
                  <a:srgbClr val="FFFF00"/>
                </a:solidFill>
                <a:latin typeface="Agency FB" panose="020B0503020202020204" pitchFamily="34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40814127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356</TotalTime>
  <Words>577</Words>
  <Application>Microsoft Office PowerPoint</Application>
  <PresentationFormat>Widescreen</PresentationFormat>
  <Paragraphs>139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Agency FB</vt:lpstr>
      <vt:lpstr>Aptos</vt:lpstr>
      <vt:lpstr>Aptos Display</vt:lpstr>
      <vt:lpstr>Arial</vt:lpstr>
      <vt:lpstr>Office Theme</vt:lpstr>
      <vt:lpstr>PowerPoint Presentation</vt:lpstr>
      <vt:lpstr>Group 09</vt:lpstr>
      <vt:lpstr>Content</vt:lpstr>
      <vt:lpstr>Introduction</vt:lpstr>
      <vt:lpstr>PowerPoint Presentation</vt:lpstr>
      <vt:lpstr>Problem</vt:lpstr>
      <vt:lpstr>PowerPoint Presentation</vt:lpstr>
      <vt:lpstr>PowerPoint Presentation</vt:lpstr>
      <vt:lpstr>Solution</vt:lpstr>
      <vt:lpstr>Design and Layout</vt:lpstr>
      <vt:lpstr>PowerPoint Presentation</vt:lpstr>
      <vt:lpstr>PowerPoint Presentation</vt:lpstr>
      <vt:lpstr>Features</vt:lpstr>
      <vt:lpstr>PowerPoint Presentation</vt:lpstr>
      <vt:lpstr>Use Cases</vt:lpstr>
      <vt:lpstr>The Future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N.N.J. GAMAGE</dc:creator>
  <cp:lastModifiedBy>N.N.J. GAMAGE</cp:lastModifiedBy>
  <cp:revision>19</cp:revision>
  <dcterms:created xsi:type="dcterms:W3CDTF">2025-12-30T10:31:53Z</dcterms:created>
  <dcterms:modified xsi:type="dcterms:W3CDTF">2025-12-30T18:56:54Z</dcterms:modified>
</cp:coreProperties>
</file>